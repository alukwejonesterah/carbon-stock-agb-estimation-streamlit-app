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
<Relationship Id="rId3" Type="http://schemas.openxmlformats.org/officeDocument/2006/relationships/slide" Target="slides/slide2.xml"/>
<Relationship Id="rId4" Type="http://schemas.openxmlformats.org/officeDocument/2006/relationships/slide" Target="slides/slide3.xml"/>
<Relationship Id="rId5" Type="http://schemas.openxmlformats.org/officeDocument/2006/relationships/slide" Target="slides/slide4.xml"/>
<Relationship Id="rId6" Type="http://schemas.openxmlformats.org/officeDocument/2006/relationships/slide" Target="slides/slide5.xml"/>
<Relationship Id="rId7" Type="http://schemas.openxmlformats.org/officeDocument/2006/relationships/slide" Target="slides/slide6.xml"/>
<Relationship Id="rId8" Type="http://schemas.openxmlformats.org/officeDocument/2006/relationships/slide" Target="slides/slide7.xml"/>
<Relationship Id="rId9" Type="http://schemas.openxmlformats.org/officeDocument/2006/relationships/slide" Target="slides/slide8.xml"/>
<Relationship Id="rId10" Type="http://schemas.openxmlformats.org/officeDocument/2006/relationships/slide" Target="slides/slide9.xml"/>
<Relationship Id="rId11" Type="http://schemas.openxmlformats.org/officeDocument/2006/relationships/slide" Target="slides/slide10.xml"/>
</Relationships>
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arbon-Eye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650000" y="36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276749"/>
                </a:solidFill>
              </a:rPr>
              <a:t>Carbon-Eye</a:t>
            </a:r>
            <a:endParaRPr lang="en-US" sz="2800"/>
          </a:p>
        </p:txBody>
      </p:sp>
      <p:sp>
        <p:nvSpPr>
          <p:cNvPr id="3" name="Text 3"/>
          <p:cNvSpPr txBox="1"/>
          <p:nvPr/>
        </p:nvSpPr>
        <p:spPr>
          <a:xfrm>
            <a:off x="760000" y="1450000"/>
            <a:ext cx="10600000" cy="3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>
                <a:solidFill>
                  <a:srgbClr val="16352B"/>
                </a:solidFill>
              </a:rPr>
              <a:t>Carbon Stock &amp; Above-Ground Biomass Estimation`nA geospatial decision-support system for selected Kenyan counties</a:t>
            </a:r>
            <a:endParaRPr lang="en-US" sz="1650"/>
          </a:p>
        </p:txBody>
      </p:sp>
      <p:sp>
        <p:nvSpPr>
          <p:cNvPr id="4" name="Text 4"/>
          <p:cNvSpPr txBox="1"/>
          <p:nvPr/>
        </p:nvSpPr>
        <p:spPr>
          <a:xfrm>
            <a:off x="760000" y="5500000"/>
            <a:ext cx="10600000" cy="6500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Project presentation</a:t>
            </a:r>
            <a:endParaRPr lang="en-US"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650000" y="36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276749"/>
                </a:solidFill>
              </a:rPr>
              <a:t>What is Carbon-Eye?</a:t>
            </a:r>
            <a:endParaRPr lang="en-US" sz="2800"/>
          </a:p>
        </p:txBody>
      </p:sp>
      <p:sp>
        <p:nvSpPr>
          <p:cNvPr id="3" name="Text 3"/>
          <p:cNvSpPr txBox="1"/>
          <p:nvPr/>
        </p:nvSpPr>
        <p:spPr>
          <a:xfrm>
            <a:off x="760000" y="1450000"/>
            <a:ext cx="10600000" cy="3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>
                <a:solidFill>
                  <a:srgbClr val="16352B"/>
                </a:solidFill>
              </a:rPr>
              <a:t>Carbon-Eye is a Streamlit web application that estimates above-ground biomass (AGB) and carbon stock across selected Kenyan counties.`n`nIt combines satellite observations, environmental data and machine-learning models in Google Earth Engine to turn complex spatial data into interactive maps and county-level summaries.</a:t>
            </a:r>
            <a:endParaRPr lang="en-US" sz="1650"/>
          </a:p>
        </p:txBody>
      </p:sp>
      <p:sp>
        <p:nvSpPr>
          <p:cNvPr id="4" name="Text 4"/>
          <p:cNvSpPr txBox="1"/>
          <p:nvPr/>
        </p:nvSpPr>
        <p:spPr>
          <a:xfrm>
            <a:off x="760000" y="5500000"/>
            <a:ext cx="10600000" cy="6500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Purpose: make carbon and biomass screening more accessible, transparent and usable.</a:t>
            </a:r>
            <a:endParaRPr lang="en-US" sz="1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650000" y="36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276749"/>
                </a:solidFill>
              </a:rPr>
              <a:t>Why estimate carbon and biomass?</a:t>
            </a:r>
            <a:endParaRPr lang="en-US" sz="2800"/>
          </a:p>
        </p:txBody>
      </p:sp>
      <p:sp>
        <p:nvSpPr>
          <p:cNvPr id="3" name="Text 3"/>
          <p:cNvSpPr txBox="1"/>
          <p:nvPr/>
        </p:nvSpPr>
        <p:spPr>
          <a:xfrm>
            <a:off x="760000" y="1450000"/>
            <a:ext cx="10600000" cy="3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>
                <a:solidFill>
                  <a:srgbClr val="16352B"/>
                </a:solidFill>
              </a:rPr>
              <a:t>Forests and vegetation store carbon in their biomass. Measuring their distribution helps us understand ecosystem condition and change.`n`nCarbon-Eye supports: climate-action planning; restoration screening; landscape monitoring; county prioritisation; and evidence-based conservation discussions.</a:t>
            </a:r>
            <a:endParaRPr lang="en-US" sz="1650"/>
          </a:p>
        </p:txBody>
      </p:sp>
      <p:sp>
        <p:nvSpPr>
          <p:cNvPr id="4" name="Text 4"/>
          <p:cNvSpPr txBox="1"/>
          <p:nvPr/>
        </p:nvSpPr>
        <p:spPr>
          <a:xfrm>
            <a:off x="760000" y="5500000"/>
            <a:ext cx="10600000" cy="6500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Important boundary: results are model estimates, not field inventories, verified carbon credits, or certification decisions.</a:t>
            </a:r>
            <a:endParaRPr lang="en-US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650000" y="36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276749"/>
                </a:solidFill>
              </a:rPr>
              <a:t>How Carbon-Eye works</a:t>
            </a:r>
            <a:endParaRPr lang="en-US" sz="2800"/>
          </a:p>
        </p:txBody>
      </p:sp>
      <p:sp>
        <p:nvSpPr>
          <p:cNvPr id="3" name="Text 3"/>
          <p:cNvSpPr txBox="1"/>
          <p:nvPr/>
        </p:nvSpPr>
        <p:spPr>
          <a:xfrm>
            <a:off x="760000" y="1450000"/>
            <a:ext cx="10600000" cy="3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>
                <a:solidFill>
                  <a:srgbClr val="16352B"/>
                </a:solidFill>
              </a:rPr>
              <a:t>1. Select Kenyan county/counties and an ESA CCI AGB reference year.`n2. Google Earth Engine builds a cloud-filtered, multi-source predictor stack.`n3. The app samples reference carbon and splits data into training and testing sets.`n4. Random Forest, Gradient Tree Boosting and SVM learn carbon patterns.`n5. Carbon-Eye maps estimates, checks model performance and summarises counties.</a:t>
            </a:r>
            <a:endParaRPr lang="en-US" sz="1650"/>
          </a:p>
        </p:txBody>
      </p:sp>
      <p:sp>
        <p:nvSpPr>
          <p:cNvPr id="4" name="Text 4"/>
          <p:cNvSpPr txBox="1"/>
          <p:nvPr/>
        </p:nvSpPr>
        <p:spPr>
          <a:xfrm>
            <a:off x="760000" y="5500000"/>
            <a:ext cx="10600000" cy="6500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Inputs to predictor stack to model training to validation to maps, statistics and downloads</a:t>
            </a:r>
            <a:endParaRPr lang="en-US" sz="1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650000" y="36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276749"/>
                </a:solidFill>
              </a:rPr>
              <a:t>Who can use it?</a:t>
            </a:r>
            <a:endParaRPr lang="en-US" sz="2800"/>
          </a:p>
        </p:txBody>
      </p:sp>
      <p:sp>
        <p:nvSpPr>
          <p:cNvPr id="3" name="Text 3"/>
          <p:cNvSpPr txBox="1"/>
          <p:nvPr/>
        </p:nvSpPr>
        <p:spPr>
          <a:xfrm>
            <a:off x="760000" y="1450000"/>
            <a:ext cx="10600000" cy="3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>
                <a:solidFill>
                  <a:srgbClr val="16352B"/>
                </a:solidFill>
              </a:rPr>
              <a:t>County environment and forestry teams`nConservation and restoration organisations`nResearchers and students`nCarbon-project teams conducting early screening`nLand-use planners and NGOs</a:t>
            </a:r>
            <a:endParaRPr lang="en-US" sz="1650"/>
          </a:p>
        </p:txBody>
      </p:sp>
      <p:sp>
        <p:nvSpPr>
          <p:cNvPr id="4" name="Text 4"/>
          <p:cNvSpPr txBox="1"/>
          <p:nvPr/>
        </p:nvSpPr>
        <p:spPr>
          <a:xfrm>
            <a:off x="760000" y="5500000"/>
            <a:ext cx="10600000" cy="6500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Users need an Earth Engine-enabled Google account and a Google Cloud project. The interface is designed for non-specialists as well as technical users.</a:t>
            </a:r>
            <a:endParaRPr lang="en-US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650000" y="36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276749"/>
                </a:solidFill>
              </a:rPr>
              <a:t>Data sources used</a:t>
            </a:r>
            <a:endParaRPr lang="en-US" sz="2800"/>
          </a:p>
        </p:txBody>
      </p:sp>
      <p:sp>
        <p:nvSpPr>
          <p:cNvPr id="3" name="Text 3"/>
          <p:cNvSpPr txBox="1"/>
          <p:nvPr/>
        </p:nvSpPr>
        <p:spPr>
          <a:xfrm>
            <a:off x="760000" y="1450000"/>
            <a:ext cx="10600000" cy="3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>
                <a:solidFill>
                  <a:srgbClr val="16352B"/>
                </a:solidFill>
              </a:rPr>
              <a:t>Reference target: ESA CCI Above-Ground Biomass V6.0`nOptical imagery: Sentinel-2 Surface Reflectance (Copernicus)`nRadar: Sentinel-1 GRD and JAXA ALOS PALSAR`nLand cover: Google Dynamic World`nTerrain: SRTM DEM`nClimate: WorldClim BIO`nSoils: OpenLandMap Soil Organic Carbon`nStructure &amp; temperature: Meta Canopy Height and MODIS LST`nBoundaries: geoBoundaries ADM1</a:t>
            </a:r>
            <a:endParaRPr lang="en-US" sz="1650"/>
          </a:p>
        </p:txBody>
      </p:sp>
      <p:sp>
        <p:nvSpPr>
          <p:cNvPr id="4" name="Text 4"/>
          <p:cNvSpPr txBox="1"/>
          <p:nvPr/>
        </p:nvSpPr>
        <p:spPr>
          <a:xfrm>
            <a:off x="760000" y="5500000"/>
            <a:ext cx="10600000" cy="6500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All sources are accessed and processed through Google Earth Engine.</a:t>
            </a:r>
            <a:endParaRPr lang="en-US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650000" y="36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276749"/>
                </a:solidFill>
              </a:rPr>
              <a:t>Features used by the model</a:t>
            </a:r>
            <a:endParaRPr lang="en-US" sz="2800"/>
          </a:p>
        </p:txBody>
      </p:sp>
      <p:sp>
        <p:nvSpPr>
          <p:cNvPr id="3" name="Text 3"/>
          <p:cNvSpPr txBox="1"/>
          <p:nvPr/>
        </p:nvSpPr>
        <p:spPr>
          <a:xfrm>
            <a:off x="760000" y="1450000"/>
            <a:ext cx="10600000" cy="3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>
                <a:solidFill>
                  <a:srgbClr val="16352B"/>
                </a:solidFill>
              </a:rPr>
              <a:t>Vegetation greenness &amp; moisture: Sentinel-2 bands, NDVI, EVI, SAVI, NDMI and NDRE`nVegetation structure: Sentinel-1 VH radar, SAR texture (contrast), PALSAR HH/HV, canopy height`nSite conditions: elevation, slope, aspect, temperature, rainfall, soil organic carbon and land-surface temperature</a:t>
            </a:r>
            <a:endParaRPr lang="en-US" sz="1650"/>
          </a:p>
        </p:txBody>
      </p:sp>
      <p:sp>
        <p:nvSpPr>
          <p:cNvPr id="4" name="Text 4"/>
          <p:cNvSpPr txBox="1"/>
          <p:nvPr/>
        </p:nvSpPr>
        <p:spPr>
          <a:xfrm>
            <a:off x="760000" y="5500000"/>
            <a:ext cx="10600000" cy="6500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These predictors capture vegetation condition, structure and the environmental conditions that influence biomass.</a:t>
            </a:r>
            <a:endParaRPr lang="en-US" sz="1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650000" y="36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276749"/>
                </a:solidFill>
              </a:rPr>
              <a:t>Model design and carbon estimate</a:t>
            </a:r>
            <a:endParaRPr lang="en-US" sz="2800"/>
          </a:p>
        </p:txBody>
      </p:sp>
      <p:sp>
        <p:nvSpPr>
          <p:cNvPr id="3" name="Text 3"/>
          <p:cNvSpPr txBox="1"/>
          <p:nvPr/>
        </p:nvSpPr>
        <p:spPr>
          <a:xfrm>
            <a:off x="760000" y="1450000"/>
            <a:ext cx="10600000" cy="3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>
                <a:solidFill>
                  <a:srgbClr val="16352B"/>
                </a:solidFill>
              </a:rPr>
              <a:t>Training target: ESA AGB reference layer converted to carbon stock using 0.47 Mg C per Mg dry biomass (IPCC default).`n`nModels: Random Forest, Gradient Tree Boosting and Support Vector Machine (SVM).`n`nEnsemble: average of the three predicted carbon maps, reducing reliance on one modelling approach.</a:t>
            </a:r>
            <a:endParaRPr lang="en-US" sz="1650"/>
          </a:p>
        </p:txBody>
      </p:sp>
      <p:sp>
        <p:nvSpPr>
          <p:cNvPr id="4" name="Text 4"/>
          <p:cNvSpPr txBox="1"/>
          <p:nvPr/>
        </p:nvSpPr>
        <p:spPr>
          <a:xfrm>
            <a:off x="760000" y="5500000"/>
            <a:ext cx="10600000" cy="6500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Outputs are reported as tonnes of carbon per hectare (t C/ha); the app can also display AGB.</a:t>
            </a:r>
            <a:endParaRPr lang="en-US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650000" y="36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276749"/>
                </a:solidFill>
              </a:rPr>
              <a:t>Key system features</a:t>
            </a:r>
            <a:endParaRPr lang="en-US" sz="2800"/>
          </a:p>
        </p:txBody>
      </p:sp>
      <p:sp>
        <p:nvSpPr>
          <p:cNvPr id="3" name="Text 3"/>
          <p:cNvSpPr txBox="1"/>
          <p:nvPr/>
        </p:nvSpPr>
        <p:spPr>
          <a:xfrm>
            <a:off x="760000" y="1450000"/>
            <a:ext cx="10600000" cy="3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>
                <a:solidFill>
                  <a:srgbClr val="16352B"/>
                </a:solidFill>
              </a:rPr>
              <a:t>Interactive map: select model, switch Carbon/AGB and inspect locations.`nModel comparison: RF-versus-GTB difference and three-model spread (uncertainty).`nValidation: held-out test data with RMSE, MAE, RÂ² and actual-versus-predicted charts.`nCounty insights: zonal mean, min, max and total carbon statistics; downloadable CSV.`nFeature importance: identifies influential variables for RF and GTB.`nLearning guide and reporting/export tools.</a:t>
            </a:r>
            <a:endParaRPr lang="en-US" sz="1650"/>
          </a:p>
        </p:txBody>
      </p:sp>
      <p:sp>
        <p:nvSpPr>
          <p:cNvPr id="4" name="Text 4"/>
          <p:cNvSpPr txBox="1"/>
          <p:nvPr/>
        </p:nvSpPr>
        <p:spPr>
          <a:xfrm>
            <a:off x="760000" y="5500000"/>
            <a:ext cx="10600000" cy="6500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The app caches matching runs and computes heavier diagnostics on demand to improve usability.</a:t>
            </a:r>
            <a:endParaRPr lang="en-US" sz="1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650000" y="360000"/>
            <a:ext cx="109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>
                <a:solidFill>
                  <a:srgbClr val="276749"/>
                </a:solidFill>
              </a:rPr>
              <a:t>Responsible interpretation &amp; next steps</a:t>
            </a:r>
            <a:endParaRPr lang="en-US" sz="2800"/>
          </a:p>
        </p:txBody>
      </p:sp>
      <p:sp>
        <p:nvSpPr>
          <p:cNvPr id="3" name="Text 3"/>
          <p:cNvSpPr txBox="1"/>
          <p:nvPr/>
        </p:nvSpPr>
        <p:spPr>
          <a:xfrm>
            <a:off x="760000" y="1450000"/>
            <a:ext cx="10600000" cy="3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>
                <a:solidFill>
                  <a:srgbClr val="16352B"/>
                </a:solidFill>
              </a:rPr>
              <a:t>Use Carbon-Eye to screen, compare and target areas, not to replace field plots or verification.`n`nBefore any investment, crediting or certification decision: validate with local field data; assess uncertainty; check land tenure, baselines, leakage and permanence; and follow the relevant methodology.</a:t>
            </a:r>
            <a:endParaRPr lang="en-US" sz="1650"/>
          </a:p>
        </p:txBody>
      </p:sp>
      <p:sp>
        <p:nvSpPr>
          <p:cNvPr id="4" name="Text 4"/>
          <p:cNvSpPr txBox="1"/>
          <p:nvPr/>
        </p:nvSpPr>
        <p:spPr>
          <a:xfrm>
            <a:off x="760000" y="5500000"/>
            <a:ext cx="10600000" cy="65000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txBody>
          <a:bodyPr wrap="square"/>
          <a:lstStyle/>
          <a:p>
            <a:r>
              <a:rPr lang="en-US" sz="1150">
                <a:solidFill>
                  <a:srgbClr val="FFFFFF"/>
                </a:solidFill>
              </a:rPr>
              <a:t>Thank you`nCarbon-Eye: seeing Kenya landscape carbon more clearly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bon-Eye">
  <a:themeElements>
    <a:clrScheme name="Carbon">
      <a:dk1>
        <a:srgbClr val="16352B"/>
      </a:dk1>
      <a:lt1>
        <a:srgbClr val="FFFFFF"/>
      </a:lt1>
      <a:dk2>
        <a:srgbClr val="276749"/>
      </a:dk2>
      <a:lt2>
        <a:srgbClr val="EAF4EE"/>
      </a:lt2>
      <a:accent1>
        <a:srgbClr val="2F855A"/>
      </a:accent1>
      <a:accent2>
        <a:srgbClr val="D69E2E"/>
      </a:accent2>
      <a:accent3>
        <a:srgbClr val="4299E1"/>
      </a:accent3>
      <a:accent4>
        <a:srgbClr val="9F7AEA"/>
      </a:accent4>
      <a:accent5>
        <a:srgbClr val="ED8936"/>
      </a:accent5>
      <a:accent6>
        <a:srgbClr val="38B2AC"/>
      </a:accent6>
      <a:hlink>
        <a:srgbClr val="0563C1"/>
      </a:hlink>
      <a:folHlink>
        <a:srgbClr val="954F72"/>
      </a:folHlink>
    </a:clrScheme>
    <a:fontScheme name="Carbon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Carbon">
      <a:fillStyleLst>
        <a:solidFill>
          <a:schemeClr val="phClr"/>
        </a:solidFill>
        <a:solidFill>
          <a:schemeClr val="accent1"/>
        </a:solidFill>
        <a:noFill/>
      </a:fillStyleLst>
      <a:lnStyleLst>
        <a:ln w="9525">
          <a:noFill/>
        </a:ln>
        <a:ln w="25400">
          <a:noFill/>
        </a:ln>
        <a:ln w="3810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noFill/>
      </a:bgFillStyleLst>
    </a:fmtScheme>
  </a:themeElements>
</a:theme>
</file>